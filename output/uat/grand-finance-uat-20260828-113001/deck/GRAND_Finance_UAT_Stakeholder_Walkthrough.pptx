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ab1f8c33d34bad" /><Relationship Type="http://schemas.openxmlformats.org/officeDocument/2006/relationships/extended-properties" Target="/docProps/app.xml" Id="R7eee8016afe5411c" /><Relationship Type="http://schemas.openxmlformats.org/officeDocument/2006/relationships/officeDocument" Target="/ppt/presentation.xml" Id="Rd71faadd9cb44f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6992aed8304bbb"/>
  </p:sldMasterIdLst>
  <p:notesMasterIdLst>
    <p:notesMasterId xmlns:r="http://schemas.openxmlformats.org/officeDocument/2006/relationships" r:id="R8f4ef53158bc481e"/>
  </p:notesMasterIdLst>
  <p:sldIdLst>
    <p:sldId xmlns:r="http://schemas.openxmlformats.org/officeDocument/2006/relationships" id="256" r:id="R0af72f6e9d544787"/>
    <p:sldId xmlns:r="http://schemas.openxmlformats.org/officeDocument/2006/relationships" id="257" r:id="Rc957bc5422db4bd4"/>
    <p:sldId xmlns:r="http://schemas.openxmlformats.org/officeDocument/2006/relationships" id="258" r:id="R2e0048ed43154897"/>
    <p:sldId xmlns:r="http://schemas.openxmlformats.org/officeDocument/2006/relationships" id="259" r:id="R106b437a2da346f3"/>
    <p:sldId xmlns:r="http://schemas.openxmlformats.org/officeDocument/2006/relationships" id="260" r:id="R5876f42b9f934935"/>
    <p:sldId xmlns:r="http://schemas.openxmlformats.org/officeDocument/2006/relationships" id="261" r:id="R118e4b2e44624a80"/>
    <p:sldId xmlns:r="http://schemas.openxmlformats.org/officeDocument/2006/relationships" id="262" r:id="R68fbec6dfaaf444c"/>
    <p:sldId xmlns:r="http://schemas.openxmlformats.org/officeDocument/2006/relationships" id="263" r:id="R91d99b54094a49d0"/>
    <p:sldId xmlns:r="http://schemas.openxmlformats.org/officeDocument/2006/relationships" id="264" r:id="R917e835a454a40ad"/>
    <p:sldId xmlns:r="http://schemas.openxmlformats.org/officeDocument/2006/relationships" id="265" r:id="R56f4f8f6f1ec4a4e"/>
    <p:sldId xmlns:r="http://schemas.openxmlformats.org/officeDocument/2006/relationships" id="266" r:id="R156385f5579a40e3"/>
    <p:sldId xmlns:r="http://schemas.openxmlformats.org/officeDocument/2006/relationships" id="267" r:id="Rb177ea5bc54741b0"/>
    <p:sldId xmlns:r="http://schemas.openxmlformats.org/officeDocument/2006/relationships" id="268" r:id="Rb4a57c6f492444e8"/>
    <p:sldId xmlns:r="http://schemas.openxmlformats.org/officeDocument/2006/relationships" id="269" r:id="Rb29eb7eaee154324"/>
    <p:sldId xmlns:r="http://schemas.openxmlformats.org/officeDocument/2006/relationships" id="270" r:id="Rb1532e7ce52a4a01"/>
    <p:sldId xmlns:r="http://schemas.openxmlformats.org/officeDocument/2006/relationships" id="271" r:id="R620473088d394d4c"/>
    <p:sldId xmlns:r="http://schemas.openxmlformats.org/officeDocument/2006/relationships" id="272" r:id="R9bc55e126ab34f86"/>
    <p:sldId xmlns:r="http://schemas.openxmlformats.org/officeDocument/2006/relationships" id="273" r:id="Rb3694a9707ae47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4ce220ed624992" /><Relationship Type="http://schemas.openxmlformats.org/officeDocument/2006/relationships/slideMaster" Target="/ppt/slideMasters/slideMaster1.xml" Id="Rf76992aed8304bbb" /><Relationship Type="http://schemas.openxmlformats.org/officeDocument/2006/relationships/notesMaster" Target="/ppt/notesMasters/notesMaster1.xml" Id="R8f4ef53158bc481e" /><Relationship Type="http://schemas.openxmlformats.org/officeDocument/2006/relationships/presProps" Target="/ppt/presProps.xml" Id="R44ef0c24cae947fd" /><Relationship Type="http://schemas.openxmlformats.org/officeDocument/2006/relationships/tableStyles" Target="/ppt/tableStyles.xml" Id="R85071cf5e5674a5d" /><Relationship Type="http://schemas.openxmlformats.org/officeDocument/2006/relationships/slide" Target="/ppt/slides/slide1.xml" Id="R0af72f6e9d544787" /><Relationship Type="http://schemas.openxmlformats.org/officeDocument/2006/relationships/slide" Target="/ppt/slides/slide2.xml" Id="Rc957bc5422db4bd4" /><Relationship Type="http://schemas.openxmlformats.org/officeDocument/2006/relationships/slide" Target="/ppt/slides/slide3.xml" Id="R2e0048ed43154897" /><Relationship Type="http://schemas.openxmlformats.org/officeDocument/2006/relationships/slide" Target="/ppt/slides/slide4.xml" Id="R106b437a2da346f3" /><Relationship Type="http://schemas.openxmlformats.org/officeDocument/2006/relationships/slide" Target="/ppt/slides/slide5.xml" Id="R5876f42b9f934935" /><Relationship Type="http://schemas.openxmlformats.org/officeDocument/2006/relationships/slide" Target="/ppt/slides/slide6.xml" Id="R118e4b2e44624a80" /><Relationship Type="http://schemas.openxmlformats.org/officeDocument/2006/relationships/slide" Target="/ppt/slides/slide7.xml" Id="R68fbec6dfaaf444c" /><Relationship Type="http://schemas.openxmlformats.org/officeDocument/2006/relationships/slide" Target="/ppt/slides/slide8.xml" Id="R91d99b54094a49d0" /><Relationship Type="http://schemas.openxmlformats.org/officeDocument/2006/relationships/slide" Target="/ppt/slides/slide9.xml" Id="R917e835a454a40ad" /><Relationship Type="http://schemas.openxmlformats.org/officeDocument/2006/relationships/slide" Target="/ppt/slides/slide10.xml" Id="R56f4f8f6f1ec4a4e" /><Relationship Type="http://schemas.openxmlformats.org/officeDocument/2006/relationships/slide" Target="/ppt/slides/slide11.xml" Id="R156385f5579a40e3" /><Relationship Type="http://schemas.openxmlformats.org/officeDocument/2006/relationships/slide" Target="/ppt/slides/slide12.xml" Id="Rb177ea5bc54741b0" /><Relationship Type="http://schemas.openxmlformats.org/officeDocument/2006/relationships/slide" Target="/ppt/slides/slide13.xml" Id="Rb4a57c6f492444e8" /><Relationship Type="http://schemas.openxmlformats.org/officeDocument/2006/relationships/slide" Target="/ppt/slides/slide14.xml" Id="Rb29eb7eaee154324" /><Relationship Type="http://schemas.openxmlformats.org/officeDocument/2006/relationships/slide" Target="/ppt/slides/slide15.xml" Id="Rb1532e7ce52a4a01" /><Relationship Type="http://schemas.openxmlformats.org/officeDocument/2006/relationships/slide" Target="/ppt/slides/slide16.xml" Id="R620473088d394d4c" /><Relationship Type="http://schemas.openxmlformats.org/officeDocument/2006/relationships/slide" Target="/ppt/slides/slide17.xml" Id="R9bc55e126ab34f86" /><Relationship Type="http://schemas.openxmlformats.org/officeDocument/2006/relationships/slide" Target="/ppt/slides/slide18.xml" Id="Rb3694a9707ae47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0a490cbfb54c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984fc11c004293" /><Relationship Type="http://schemas.openxmlformats.org/officeDocument/2006/relationships/notesMaster" Target="/ppt/notesMasters/notesMaster1.xml" Id="R0fd54c0af75840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6f3bc20fa44c97" /><Relationship Type="http://schemas.openxmlformats.org/officeDocument/2006/relationships/notesMaster" Target="/ppt/notesMasters/notesMaster1.xml" Id="Rbb183cbd979b4a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02361beba1414f" /><Relationship Type="http://schemas.openxmlformats.org/officeDocument/2006/relationships/notesMaster" Target="/ppt/notesMasters/notesMaster1.xml" Id="Rb0d2bc7fe6da40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d8e9c9a0ef48f6" /><Relationship Type="http://schemas.openxmlformats.org/officeDocument/2006/relationships/notesMaster" Target="/ppt/notesMasters/notesMaster1.xml" Id="R3fba00c114b848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3f1ad1b81a43f0" /><Relationship Type="http://schemas.openxmlformats.org/officeDocument/2006/relationships/notesMaster" Target="/ppt/notesMasters/notesMaster1.xml" Id="Rdf611f15a2c346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a2e40e843542c4" /><Relationship Type="http://schemas.openxmlformats.org/officeDocument/2006/relationships/notesMaster" Target="/ppt/notesMasters/notesMaster1.xml" Id="R38fdd5ced9c44b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9fcc40a5784642" /><Relationship Type="http://schemas.openxmlformats.org/officeDocument/2006/relationships/notesMaster" Target="/ppt/notesMasters/notesMaster1.xml" Id="R425d49b59f7743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d9eff18ea54f63" /><Relationship Type="http://schemas.openxmlformats.org/officeDocument/2006/relationships/notesMaster" Target="/ppt/notesMasters/notesMaster1.xml" Id="Rd9c4aed5aa9a48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21baffcbcc4e80" /><Relationship Type="http://schemas.openxmlformats.org/officeDocument/2006/relationships/notesMaster" Target="/ppt/notesMasters/notesMaster1.xml" Id="Ra0993e08640b4d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4fc68b14614cf3" /><Relationship Type="http://schemas.openxmlformats.org/officeDocument/2006/relationships/notesMaster" Target="/ppt/notesMasters/notesMaster1.xml" Id="R90c6da6fd7284a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9356b885464cc2" /><Relationship Type="http://schemas.openxmlformats.org/officeDocument/2006/relationships/notesMaster" Target="/ppt/notesMasters/notesMaster1.xml" Id="R5bba281ad73a40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9283215d574b10" /><Relationship Type="http://schemas.openxmlformats.org/officeDocument/2006/relationships/notesMaster" Target="/ppt/notesMasters/notesMaster1.xml" Id="R3b54a99ac8034c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9e15a729a740ca" /><Relationship Type="http://schemas.openxmlformats.org/officeDocument/2006/relationships/notesMaster" Target="/ppt/notesMasters/notesMaster1.xml" Id="R8496fb8aeb4747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337618e8714a38" /><Relationship Type="http://schemas.openxmlformats.org/officeDocument/2006/relationships/notesMaster" Target="/ppt/notesMasters/notesMaster1.xml" Id="Rc04bb93bbfd645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1efc738cba4ba5" /><Relationship Type="http://schemas.openxmlformats.org/officeDocument/2006/relationships/notesMaster" Target="/ppt/notesMasters/notesMaster1.xml" Id="Ra2f8413d05c440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4d7192305341b5" /><Relationship Type="http://schemas.openxmlformats.org/officeDocument/2006/relationships/notesMaster" Target="/ppt/notesMasters/notesMaster1.xml" Id="R8d85420bf82245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7794f1e82146e5" /><Relationship Type="http://schemas.openxmlformats.org/officeDocument/2006/relationships/notesMaster" Target="/ppt/notesMasters/notesMaster1.xml" Id="R9327a87934694d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add8fa83b4a4cf3" /><Relationship Type="http://schemas.openxmlformats.org/officeDocument/2006/relationships/notesMaster" Target="/ppt/notesMasters/notesMaster1.xml" Id="R968cab88dca14a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C:/Users/Administrator/Desktop/GH/grand-finance-complete-cycle/output/uat/grand-finance-uat-20260828-113001/screenshots/phase-10-standalone-workbench.png</a:t>
            </a:r>
          </a:p>
          <a:p xmlns:a="http://schemas.openxmlformats.org/drawingml/2006/main">
            <a:r>
              <a:t>- C:/Users/Administrator/Desktop/GH/grand-finance-complete-cycle/output/uat/grand-finance-uat-20260828-113001/evidence/uat-results.json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C:/Users/Administrator/Desktop/GH/grand-finance-complete-cycle/output/uat/grand-finance-uat-20260828-113001/evidence/uat-results.json</a:t>
            </a:r>
          </a:p>
          <a:p xmlns:a="http://schemas.openxmlformats.org/drawingml/2006/main">
            <a:r>
              <a:t>- C:/Users/Administrator/Desktop/GH/grand-finance-complete-cycle/output/uat/grand-finance-uat-20260828-113001/../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C:/Users/Administrator/Desktop/GH/grand-finance-complete-cycle/output/uat/grand-finance-uat-20260828-113001/evidence/uat-results.json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C:/Users/Administrator/Desktop/GH/grand-finance-complete-cycle/output/uat/grand-finance-uat-20260828-113001/evidence/uat-results.json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C:/Users/Administrator/Desktop/GH/grand-finance-complete-cycle/output/uat/grand-finance-uat-20260828-113001/workbooks/GRAND_UAT_DV_v1.xlsx</a:t>
            </a:r>
          </a:p>
          <a:p xmlns:a="http://schemas.openxmlformats.org/drawingml/2006/main">
            <a:r>
              <a:t>- C:/Users/Administrator/Desktop/GH/grand-finance-complete-cycle/output/uat/grand-finance-uat-20260828-113001/workbooks/GRAND_UAT_DV_v1-guide.png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C:/Users/Administrator/Desktop/GH/grand-finance-complete-cycle/output/uat/grand-finance-uat-20260828-113001/screenshots/phase-03-template-preflight.png</a:t>
            </a:r>
          </a:p>
          <a:p xmlns:a="http://schemas.openxmlformats.org/drawingml/2006/main">
            <a:r>
              <a:t>- C:/Users/Administrator/Desktop/GH/grand-finance-complete-cycle/output/uat/grand-finance-uat-20260828-113001/workbooks/GRAND_UAT_DV_v1.xlsx</a:t>
            </a:r>
          </a:p>
          <a:p xmlns:a="http://schemas.openxmlformats.org/drawingml/2006/main">
            <a:r>
              <a:t>- C:/Users/Administrator/Desktop/GH/grand-finance-complete-cycle/output/uat/grand-finance-uat-20260828-113001/workbooks/GRAND_UAT_DV_generated_v1.xlsx</a:t>
            </a:r>
          </a:p>
          <a:p xmlns:a="http://schemas.openxmlformats.org/drawingml/2006/main">
            <a:r>
              <a:t>- C:/Users/Administrator/Desktop/GH/grand-finance-complete-cycle/output/uat/grand-finance-uat-20260828-113001/workbooks/GRAND_UAT_DV_generated_v2_amended.xlsx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C:/Users/Administrator/Desktop/GH/grand-finance-complete-cycle/output/uat/grand-finance-uat-20260828-113001/screenshots/phase-04-finance-readiness.png</a:t>
            </a:r>
          </a:p>
          <a:p xmlns:a="http://schemas.openxmlformats.org/drawingml/2006/main">
            <a:r>
              <a:t>- C:/Users/Administrator/Desktop/GH/grand-finance-complete-cycle/output/uat/grand-finance-uat-20260828-113001/screenshots/phase-04-signatories-numbering.png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C:/Users/Administrator/Desktop/GH/grand-finance-complete-cycle/output/uat/grand-finance-uat-20260828-113001/evidence/uat-results.json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C:/Users/Administrator/Desktop/GH/grand-finance-complete-cycle/output/uat/grand-finance-uat-20260828-113001/screenshots/phase-06-budget-obr.png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C:/Users/Administrator/Desktop/GH/grand-finance-complete-cycle/output/uat/grand-finance-uat-20260828-113001/screenshots/phase-07-dv-amounts.png</a:t>
            </a:r>
          </a:p>
          <a:p xmlns:a="http://schemas.openxmlformats.org/drawingml/2006/main">
            <a:r>
              <a:t>- C:/Users/Administrator/Desktop/GH/grand-finance-complete-cycle/output/uat/grand-finance-uat-20260828-113001/screenshots/phase-07-wet-signatures.png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C:/Users/Administrator/Desktop/GH/grand-finance-complete-cycle/output/uat/grand-finance-uat-20260828-113001/screenshots/phase-08-jev-header-balance.png</a:t>
            </a:r>
          </a:p>
          <a:p xmlns:a="http://schemas.openxmlformats.org/drawingml/2006/main">
            <a:r>
              <a:t>- C:/Users/Administrator/Desktop/GH/grand-finance-complete-cycle/output/uat/grand-finance-uat-20260828-113001/screenshots/phase-08-jev-lines.png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C:/Users/Administrator/Desktop/GH/grand-finance-complete-cycle/output/uat/grand-finance-uat-20260828-113001/screenshots/phase-09-signatory-amendment.png</a:t>
            </a:r>
          </a:p>
          <a:p xmlns:a="http://schemas.openxmlformats.org/drawingml/2006/main">
            <a:r>
              <a:t>- C:/Users/Administrator/Desktop/GH/grand-finance-complete-cycle/output/uat/grand-finance-uat-20260828-113001/evidence/uat-results.json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C:/Users/Administrator/Desktop/GH/grand-finance-complete-cycle/output/uat/grand-finance-uat-20260828-113001/screenshots/phase-09-versioned-outputs.png</a:t>
            </a:r>
          </a:p>
          <a:p xmlns:a="http://schemas.openxmlformats.org/drawingml/2006/main">
            <a:r>
              <a:t>- C:/Users/Administrator/Desktop/GH/grand-finance-complete-cycle/output/uat/grand-finance-uat-20260828-113001/workbooks/GRAND_UAT_DV_generated_v1.xlsx</a:t>
            </a:r>
          </a:p>
          <a:p xmlns:a="http://schemas.openxmlformats.org/drawingml/2006/main">
            <a:r>
              <a:t>- C:/Users/Administrator/Desktop/GH/grand-finance-complete-cycle/output/uat/grand-finance-uat-20260828-113001/workbooks/GRAND_UAT_DV_generated_v2_amended.xlsx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C:/Users/Administrator/Desktop/GH/grand-finance-complete-cycle/output/uat/grand-finance-uat-20260828-113001/screenshots/phase-10-check-lineage.png</a:t>
            </a:r>
          </a:p>
          <a:p xmlns:a="http://schemas.openxmlformats.org/drawingml/2006/main">
            <a:r>
              <a:t>- C:/Users/Administrator/Desktop/GH/grand-finance-complete-cycle/output/uat/grand-finance-uat-20260828-113001/evidence/uat-results.json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C:/Users/Administrator/Desktop/GH/grand-finance-complete-cycle/output/uat/grand-finance-uat-20260828-113001/screenshots/phase-10-standalone-workbench.png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C:/Users/Administrator/Desktop/GH/grand-finance-complete-cycle/output/uat/grand-finance-uat-20260828-113001/evidence/uat-results.json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C:/Users/Administrator/Desktop/GH/grand-finance-complete-cycle/output/uat/grand-finance-uat-20260828-113001/evidence/uat-results.json</a:t>
            </a:r>
          </a:p>
          <a:p xmlns:a="http://schemas.openxmlformats.org/drawingml/2006/main">
            <a:r>
              <a:t>- C:/Users/Administrator/Desktop/GH/grand-finance-complete-cycle/output/uat/grand-finance-uat-20260828-113001/screenshots/phase-10-standalone-workbench.png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C:/Users/Administrator/Desktop/GH/grand-finance-complete-cycle/output/uat/grand-finance-uat-20260828-113001/evidence/uat-results.json</a:t>
            </a:r>
          </a:p>
          <a:p xmlns:a="http://schemas.openxmlformats.org/drawingml/2006/main">
            <a:r>
              <a:t>- C:/Users/Administrator/Desktop/GH/grand-finance-complete-cycle/output/uat/grand-finance-uat-20260828-113001/evidence/UAT_Evidence_Manifest.md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12f89165f4a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f2968ef93f4b70" /><Relationship Type="http://schemas.openxmlformats.org/officeDocument/2006/relationships/slideLayout" Target="/ppt/slideLayouts/slideLayout1.xml" Id="R975d7144608d42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5d7144608d42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1c97afc8f4ed4" /><Relationship Type="http://schemas.openxmlformats.org/officeDocument/2006/relationships/image" Target="/ppt/media/image.png" Id="Rade302b17112491d" /><Relationship Type="http://schemas.openxmlformats.org/officeDocument/2006/relationships/notesSlide" Target="/ppt/notesSlides/notesSlide1.xml" Id="Rd56bb86f3c5046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085cbfac74883" /><Relationship Type="http://schemas.openxmlformats.org/officeDocument/2006/relationships/notesSlide" Target="/ppt/notesSlides/notesSlide2.xml" Id="R412db80523b145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79fb2f7d44a5f" /><Relationship Type="http://schemas.openxmlformats.org/officeDocument/2006/relationships/notesSlide" Target="/ppt/notesSlides/notesSlide3.xml" Id="R8e32a54b9b2043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be3802c3a4858" /><Relationship Type="http://schemas.openxmlformats.org/officeDocument/2006/relationships/notesSlide" Target="/ppt/notesSlides/notesSlide4.xml" Id="R0c7b7e7d3c9a4f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c328ff25c499b" /><Relationship Type="http://schemas.openxmlformats.org/officeDocument/2006/relationships/image" Target="/ppt/media/image2.png" Id="R50fbab14b9334db6" /><Relationship Type="http://schemas.openxmlformats.org/officeDocument/2006/relationships/notesSlide" Target="/ppt/notesSlides/notesSlide5.xml" Id="R70bca7eeb9e940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d10227c8c486f" /><Relationship Type="http://schemas.openxmlformats.org/officeDocument/2006/relationships/image" Target="/ppt/media/image3.png" Id="Rae99a5016b154426" /><Relationship Type="http://schemas.openxmlformats.org/officeDocument/2006/relationships/notesSlide" Target="/ppt/notesSlides/notesSlide6.xml" Id="R2dbba87f596b42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a9d0a9b86435b" /><Relationship Type="http://schemas.openxmlformats.org/officeDocument/2006/relationships/image" Target="/ppt/media/image4.png" Id="Re8dd76990077421b" /><Relationship Type="http://schemas.openxmlformats.org/officeDocument/2006/relationships/image" Target="/ppt/media/image5.png" Id="R20dbe8f473c44494" /><Relationship Type="http://schemas.openxmlformats.org/officeDocument/2006/relationships/notesSlide" Target="/ppt/notesSlides/notesSlide7.xml" Id="R9f996d0959c34b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e51075bf54b41" /><Relationship Type="http://schemas.openxmlformats.org/officeDocument/2006/relationships/notesSlide" Target="/ppt/notesSlides/notesSlide8.xml" Id="R24d54bdc745f42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187a5cbde4114" /><Relationship Type="http://schemas.openxmlformats.org/officeDocument/2006/relationships/image" Target="/ppt/media/image6.png" Id="R6c004e4ba1a247fe" /><Relationship Type="http://schemas.openxmlformats.org/officeDocument/2006/relationships/notesSlide" Target="/ppt/notesSlides/notesSlide9.xml" Id="R19d2644e49734a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7cbbf451b4a7a" /><Relationship Type="http://schemas.openxmlformats.org/officeDocument/2006/relationships/image" Target="/ppt/media/image7.png" Id="R8affe02c936b4905" /><Relationship Type="http://schemas.openxmlformats.org/officeDocument/2006/relationships/image" Target="/ppt/media/image8.png" Id="Ra80d9171dab04e9f" /><Relationship Type="http://schemas.openxmlformats.org/officeDocument/2006/relationships/notesSlide" Target="/ppt/notesSlides/notesSlide10.xml" Id="R27a696d530ed4d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a6b1f0a9d4b65" /><Relationship Type="http://schemas.openxmlformats.org/officeDocument/2006/relationships/image" Target="/ppt/media/image9.png" Id="Rfe75b9c065ea4466" /><Relationship Type="http://schemas.openxmlformats.org/officeDocument/2006/relationships/image" Target="/ppt/media/image10.png" Id="R519b44c95a6842c4" /><Relationship Type="http://schemas.openxmlformats.org/officeDocument/2006/relationships/notesSlide" Target="/ppt/notesSlides/notesSlide11.xml" Id="R8af8107754d240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9ead561b44143" /><Relationship Type="http://schemas.openxmlformats.org/officeDocument/2006/relationships/image" Target="/ppt/media/image11.png" Id="Rdefe7c05d3a442f3" /><Relationship Type="http://schemas.openxmlformats.org/officeDocument/2006/relationships/notesSlide" Target="/ppt/notesSlides/notesSlide12.xml" Id="Rc754896f7d144c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9693078124831" /><Relationship Type="http://schemas.openxmlformats.org/officeDocument/2006/relationships/image" Target="/ppt/media/image12.png" Id="Ra08465f2038740c7" /><Relationship Type="http://schemas.openxmlformats.org/officeDocument/2006/relationships/notesSlide" Target="/ppt/notesSlides/notesSlide13.xml" Id="Ra2a1501234314d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3bf3932c54a56" /><Relationship Type="http://schemas.openxmlformats.org/officeDocument/2006/relationships/image" Target="/ppt/media/image13.png" Id="R4eb13010775b4950" /><Relationship Type="http://schemas.openxmlformats.org/officeDocument/2006/relationships/notesSlide" Target="/ppt/notesSlides/notesSlide14.xml" Id="R34bf9b220a484b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907c4f0384631" /><Relationship Type="http://schemas.openxmlformats.org/officeDocument/2006/relationships/image" Target="/ppt/media/image14.png" Id="R7d0f0a4eb33c4a9c" /><Relationship Type="http://schemas.openxmlformats.org/officeDocument/2006/relationships/notesSlide" Target="/ppt/notesSlides/notesSlide15.xml" Id="R75bac051928f41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cb2ba73f447d2" /><Relationship Type="http://schemas.openxmlformats.org/officeDocument/2006/relationships/notesSlide" Target="/ppt/notesSlides/notesSlide16.xml" Id="R253fe6fce191458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1aa2debc34c3c" /><Relationship Type="http://schemas.openxmlformats.org/officeDocument/2006/relationships/notesSlide" Target="/ppt/notesSlides/notesSlide17.xml" Id="Rfb62dceb52d94a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4a05414734671" /><Relationship Type="http://schemas.openxmlformats.org/officeDocument/2006/relationships/notesSlide" Target="/ppt/notesSlides/notesSlide18.xml" Id="R816db80971a241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3908C-A5F5-4EEA-A5BE-ED3B7DFE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D9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9E8"/>
                </a:solidFill>
                <a:latin typeface="Arial"/>
                <a:ea typeface="Arial"/>
                <a:cs typeface="Arial"/>
              </a:rPr>
              <a:t>GRAND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FB94A-2B51-4E2F-A083-4C980D05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590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End-to-End UAT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Stakeholder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5A2B0-6642-47A8-B3B8-AA983948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561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7F0"/>
                </a:solidFill>
                <a:latin typeface="Arial"/>
                <a:ea typeface="Arial"/>
                <a:cs typeface="Arial"/>
              </a:rPr>
              <a:t>A standalone Budget–Accounting–Treasury cycle with controlled Excel templates, non-financial amendments, audit evidence, and configurable maker-checker controls.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91890-02F3-465A-95BD-FFF5EB5E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FEB65-B41B-45D0-9341-F8864ACF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 PHASES ·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F8E98-22C8-41AB-8F9B-8EA870EE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5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4E519-426D-4AF5-BDFA-C2F5FC50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96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eGAPS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9CEEA-380E-4962-87D4-1085A8F2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66750"/>
            <a:ext cx="5000625" cy="5334000"/>
          </a:xfrm>
          <a:prstGeom xmlns:a="http://schemas.openxmlformats.org/drawingml/2006/main" prst="roundRect">
            <a:avLst>
              <a:gd name="adj" fmla="val 1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302b17112491d"/>
          <a:stretch xmlns:a="http://schemas.openxmlformats.org/drawingml/2006/main"/>
        </p:blipFill>
        <p:spPr>
          <a:xfrm xmlns:a="http://schemas.openxmlformats.org/drawingml/2006/main">
            <a:off x="6743700" y="2069930"/>
            <a:ext cx="4848225" cy="2527640"/>
          </a:xfrm>
          <a:prstGeom xmlns:a="http://schemas.openxmlformats.org/drawingml/2006/main" prst="round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B7BC8-F3F5-465A-91E1-25613F88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2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2D2"/>
                </a:solidFill>
                <a:latin typeface="Arial"/>
                <a:ea typeface="Arial"/>
                <a:cs typeface="Arial"/>
              </a:rPr>
              <a:t>Synthetic UAT · 28 August 2026</a:t>
            </a:r>
          </a:p>
        </p:txBody>
      </p:sp>
    </p:spTree>
    <p:extLst>
      <p:ext uri="{BB962C8B-B14F-4D97-AF65-F5344CB8AC3E}">
        <p14:creationId xmlns:p14="http://schemas.microsoft.com/office/powerpoint/2010/main" val="163297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5AB4B8-7F44-4307-8460-136B5F0C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SAFETY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A4AAB-36B0-4C05-A78B-08058AFC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Standalone by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B62BA-E656-405A-88A9-26333690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17F7F-B74A-4C12-80E3-279D50ED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B2D8A-4B6E-4F06-97C6-114B6105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3705E-71A2-4BFF-91E2-F45EEC32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completes the workflow using only its local application services and a separately routed finance database.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71AC4-EB78-4DA6-A4E5-23426AB2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B90B7-D540-45D7-B31E-49E83CD6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DFC4E-74B8-4425-BF19-5142462C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GRAND web 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C58E2-E21F-440D-9436-6C9B208A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72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Role-aware work queues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Governed setup releases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Controlled voucher workflow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Append-only event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735DE-D47F-4C5D-BC8A-B4FEE39D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05125"/>
            <a:ext cx="1190625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5985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6558A-D1DC-4B8B-9CE4-4F651FA2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145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CBDD5-BC32-48D8-A19A-E56FEB39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145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349F8-6219-48B2-8133-55E0B632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05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Separate finance 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1AFB2-1651-4E31-B614-E049101E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24150"/>
            <a:ext cx="272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Periods, funds, accounts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Balanced JEVs and ledger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Voucher posting snapshots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No cross-system credentials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41DDC-ECA6-409F-9568-92A8B5BD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05125"/>
            <a:ext cx="1190625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5985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0B9CD-2FD7-4DF0-A19D-01430509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14550"/>
            <a:ext cx="1571625" cy="20955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81A73-3DBF-4021-B88E-42D76F78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145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6EF22-5EDC-4894-9992-459B58E1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05050"/>
            <a:ext cx="1152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4FB6C-D6BB-4452-9CD1-8D5B58E1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24150"/>
            <a:ext cx="11525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XLSX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Screenshots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PPTX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Manifest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14C211-4774-4639-96BC-70992EFB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11156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A5D6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F70257-4ACE-4D72-A469-4E68206B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65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8653"/>
                </a:solidFill>
                <a:latin typeface="Arial"/>
                <a:ea typeface="Arial"/>
                <a:cs typeface="Arial"/>
              </a:rPr>
              <a:t>Isolation verified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70381E-2C5B-4B9A-82EC-44DBE0B2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Only the branch-local db.sqlite3 and grand_finance.sqlite3 were mutated. The primary GRAND checkout and eGAPS were not touched.</a:t>
            </a:r>
          </a:p>
        </p:txBody>
      </p:sp>
    </p:spTree>
    <p:extLst>
      <p:ext uri="{BB962C8B-B14F-4D97-AF65-F5344CB8AC3E}">
        <p14:creationId xmlns:p14="http://schemas.microsoft.com/office/powerpoint/2010/main" val="1634256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53CDCB-0063-4FF0-8E0A-2C13F271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ACTORS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B94C3-6F5F-46FD-ADCB-A73A581A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Four named users, explicit departments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3E8B3-75EC-416D-BFB6-18BDB335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A7E04-A557-4A0E-AB52-0A969D72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B462A-37C9-4261-87AD-F7DE1E9A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76784-E4BF-440B-AA55-531C802C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2619375" cy="28575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CBD64-0E1A-408B-ADE4-FD6160BB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7620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FE10A-99EE-414D-91D5-4A600F62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200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Budget Officer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195F7-E1D3-42EA-AF95-5D80FE26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22002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budget.officer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Budget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Opens and certifies the OBR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8A92B-167B-446F-9D2D-85C9E964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62125"/>
            <a:ext cx="2619375" cy="28575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7AAE1-9D2A-4F0E-A5DA-115507BB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62125"/>
            <a:ext cx="7620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B9E6D-DFFA-40E8-B159-A2FA55D0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2200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Accounting Preparer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4EC18-DBA2-43A5-BF47-4ED2906C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71725"/>
            <a:ext cx="22002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accounting.preparer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Accounting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Builds setup, DV, and JEV 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0F8E1-46DD-44E1-9EEB-FFBF3A53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62125"/>
            <a:ext cx="2619375" cy="28575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14606-9375-4F83-963D-ABB7B12C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62125"/>
            <a:ext cx="7620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086BB-2013-477D-952B-F7CFBA18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2200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Accounting Reviewer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8C7C2-2730-4773-A646-65D95330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71725"/>
            <a:ext cx="22002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accounting.reviewer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Accounting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Approves, validates, and posts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74D41C-8B75-4FEF-8C69-CE4A4C3C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62125"/>
            <a:ext cx="2619375" cy="28575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51C4C-4AAD-4440-9598-9C74D1C4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62125"/>
            <a:ext cx="7620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E3E53-D83C-41BE-9FAC-623EABCC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2200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Treasury Officer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D7755-B854-4577-ACC0-8B58AD9F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71725"/>
            <a:ext cx="22002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treasury.officer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Treasury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Issues, replaces, and releases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04E2C-DEB1-4EAD-B2E3-1D0DE9A0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191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818B2-F819-49ED-81E3-D4FDF545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Department means assigned department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AAC4AE-4A2F-4CE2-A573-CA312180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95875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Permissions are explicit and department-scoped; superuser status does not automatically replace finance-office assignment or maker-checker rules.</a:t>
            </a:r>
          </a:p>
        </p:txBody>
      </p:sp>
    </p:spTree>
    <p:extLst>
      <p:ext uri="{BB962C8B-B14F-4D97-AF65-F5344CB8AC3E}">
        <p14:creationId xmlns:p14="http://schemas.microsoft.com/office/powerpoint/2010/main" val="13404526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5D7FFC-2EA8-48D6-82C5-07D3AB8D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7F5FD-877C-4DBB-B6C4-4A20D608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eleven-phase UAT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63E2E-E626-4EE0-B076-ADCF4B7F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B29EF-3777-4F2E-A430-BC133E8E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3B367-3438-4773-B831-8A7B6AB8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F7FE2-95A4-4BAF-BF7E-79D43225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657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8CDC4-076A-4D14-B9FB-AB39709F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1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1F747-A0FD-454B-A567-4704B702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721E4-1121-4BB2-9523-604FE4DA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F472C-4CF9-48D9-98EC-18D7C25C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809750"/>
            <a:ext cx="1657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2CEFF-0028-4C1B-A8E6-C9B07D08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0193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 Users &amp; roles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00164-984C-4898-A268-4A413E05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09850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028FA-8105-4964-93CA-509E90F8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6765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91166-3F13-4888-881A-E9600996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09750"/>
            <a:ext cx="1657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1547F-FFEA-4CA4-8678-810528A9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193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3 Excel authoring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D3A329-F430-4F69-8B58-85DB3D68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C8097-390B-407E-BBA9-1A9F53C4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765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88A7D-A05A-4B38-AA88-D740D7E6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09750"/>
            <a:ext cx="1657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6BB5B-201B-4624-BCFD-FC427A18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193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4 Finance governance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23ADB-010F-4D3F-9CD7-5F559C19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09850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93C6D-246D-44E8-BD29-106669B7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765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72081-1423-4519-9031-473EE4C7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1657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20E470-E507-41EE-9A59-BD015863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193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5 Accounting setup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DFF234-20D2-4827-AE53-4098F752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09850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0B5ACE-3427-4AFB-8D7E-49002FF0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765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583307-6630-45F8-877D-8252DC53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809750"/>
            <a:ext cx="1657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C93B2B-1081-4180-99F8-0F34AA28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0193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6 Budget &amp; OBR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A6D965-7069-42C4-AC9B-D117381F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09850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11080D-BB35-4E94-8336-9CCC0234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7652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27FF10-E798-4B3A-BF15-AF2F7C69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28D66-DAE0-47AE-9366-600D0D11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7 DV &amp; signatures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B47F4D-7D7E-4871-B322-710A6EDC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BFEAF6-BD07-459E-B5EC-5A8216BC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B336AB-3644-47E6-A9C5-F78BC5D0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67125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3BE413-CE55-4FD9-8F81-9F3B2F56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76675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8 Validation &amp; posting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B8DA90-BEA6-4355-B70C-DADAF97C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67225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83B090-2DE5-475D-ABC6-BE04016A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339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E90E94-A866-4EAA-94D6-6B9D0BBA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67125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8DB81B-B877-44B7-A5F6-4C62F03E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76675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9 Signatory amendment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27F098-0DB5-4AF8-8331-2D0039AD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67225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97E0B0-27A8-414D-842F-3ACA8828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339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C80EE9-7312-4D86-983E-156FB22E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67125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0DF38B-3FAA-4868-A7EE-C7D7C8BA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76675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10 Treasury cycle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3D47A1-2D5A-42E8-A768-C8C23ECA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67225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818966-CE76-43EC-8A1A-CBA0AD8B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339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51A6CA-A5DE-4FC1-96F9-DD908D6A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67125"/>
            <a:ext cx="2000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A5D6B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EBFCB-AE28-49C5-B2BC-97714683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76675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11 Scoped exemption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0C607C-2283-476F-9BF4-647F8DC7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67225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17A01E-7C30-4046-9239-CE5197DC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339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572295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95EFD-C919-49E6-A866-9B44132C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EXCEL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AECC4-90B7-4066-A5DB-01794E72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Non-technical changes, controlled mappings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7E916-001A-4E9F-BD70-B075EEE1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10A7A-1CA4-4368-A94F-B2676466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ADD26-44E1-465F-8ADB-A6F6AD73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C02C9-FFF0-4D4C-AB2B-32FFF78D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604837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bab14b9334db6"/>
          <a:stretch xmlns:a="http://schemas.openxmlformats.org/drawingml/2006/main"/>
        </p:blipFill>
        <p:spPr>
          <a:xfrm xmlns:a="http://schemas.openxmlformats.org/drawingml/2006/main">
            <a:off x="533400" y="2305131"/>
            <a:ext cx="5895975" cy="2914488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50E6C-8602-4F9A-B4CA-DF80A067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24000"/>
            <a:ext cx="4857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04CB2-4DCA-49C7-B154-E032DD48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2400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AAD01-6A13-4CC3-AC78-68744CA4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71450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Eleven required named mappings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98C8E-B370-45D8-BB09-82D48364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133600"/>
            <a:ext cx="4438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DV number · DV date · Payee · Particulars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Gross · Deductions · Net · Line items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Prepared by · Certified by · Approved by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96AE1-1C1B-45EB-889E-AB0B9E2B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62375"/>
            <a:ext cx="48577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1319A-6640-44B1-8A71-6B63312C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62375"/>
            <a:ext cx="76200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B6076-1D18-42A3-9C28-2E51AF21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952875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Safe for ordinary Excel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9C3CE-5459-41FD-AB6E-BAFE4375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371975"/>
            <a:ext cx="44386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Edit labels, spacing, branding, and mapped cell placement. GRAND preflight rejects missing mappings, macros, external links, risky formulas, or unusable print areas before approval.</a:t>
            </a:r>
          </a:p>
        </p:txBody>
      </p:sp>
    </p:spTree>
    <p:extLst>
      <p:ext uri="{BB962C8B-B14F-4D97-AF65-F5344CB8AC3E}">
        <p14:creationId xmlns:p14="http://schemas.microsoft.com/office/powerpoint/2010/main" val="739563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F1A8BF-1411-4B63-9C07-132295D4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EXCEL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89230-D319-4AE8-B69F-08D9D472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Office 2016+ and Microsoft 365 compatibility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B2F56-6BBF-4923-BBCF-B4E7D660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996B5-A602-4D8A-8C15-EC887D21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C8821-1BD2-485C-A0AD-18E3B402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934B9-2FFF-42D7-91EB-9696F2DB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8102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9a5016b154426"/>
          <a:stretch xmlns:a="http://schemas.openxmlformats.org/drawingml/2006/main"/>
        </p:blipFill>
        <p:spPr>
          <a:xfrm xmlns:a="http://schemas.openxmlformats.org/drawingml/2006/main">
            <a:off x="533400" y="2394175"/>
            <a:ext cx="5657850" cy="1450525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914C9-7ECF-4086-A8E3-4DA1241E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2143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4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702D5-A247-4A54-87DE-51BE7F60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907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598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5985"/>
                </a:solidFill>
                <a:latin typeface="Arial"/>
                <a:ea typeface="Arial"/>
                <a:cs typeface="Arial"/>
              </a:rPr>
              <a:t>16.0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47A17-7648-4BE8-9163-05AD3144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Real Excel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FB3A6-0BAA-4287-8DC1-8954A532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143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4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6FA4B-748E-4D32-AB5E-078E5C38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907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598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75985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4EDBB-DB6D-4DA9-9628-4F251FE0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05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Standard .xlsx format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2BE10-9E1C-432C-AA33-A207005F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2143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27241-524F-4508-927F-DF53AB75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718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86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865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B26D0-565B-4557-9AE6-FE3BC5C7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86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VBA projects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96E95-53CF-4413-92DC-88857BDA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2143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4E8A8-CF62-4D25-9C33-00A7999A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718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86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865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789FC1-8964-413F-B502-0F05CA5A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86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External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5232C-8E67-462C-BD6B-88D5A62F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2109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CE8F0-CDA9-4F66-AC1E-2733B89D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Read-only verification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E241C-D7A3-4CDE-AB00-8EAD76FF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9587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The authored template and both generated outputs opened successfully in Microsoft Excel 16 with macros forced off and link updates disabled; none was saved or altered.</a:t>
            </a:r>
          </a:p>
        </p:txBody>
      </p:sp>
    </p:spTree>
    <p:extLst>
      <p:ext uri="{BB962C8B-B14F-4D97-AF65-F5344CB8AC3E}">
        <p14:creationId xmlns:p14="http://schemas.microsoft.com/office/powerpoint/2010/main" val="240274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0C267-DFDB-49C8-BDEC-E4885772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FINANCE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14EEA-8F4C-478F-9C5F-51ACBE68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Approved release, ready before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F1AC9-03DB-48B3-A92E-11B04A1D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C45FD-3013-4E3E-99E4-979B5040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4F164-44CE-41B4-9346-A93768DF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28BAF-864A-4D90-BD37-792A5B7C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561975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d76990077421b"/>
          <a:stretch xmlns:a="http://schemas.openxmlformats.org/drawingml/2006/main"/>
        </p:blipFill>
        <p:spPr>
          <a:xfrm xmlns:a="http://schemas.openxmlformats.org/drawingml/2006/main">
            <a:off x="1275527" y="1552575"/>
            <a:ext cx="3983096" cy="441960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98472-77BC-4FBA-87E0-9E55F972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5238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116B3-F0C3-4625-8D2E-F6BB19FC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1AC0F-8C45-4DF2-8777-9D91658E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666875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Release lifecycle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06BD1-3819-41DF-9C1D-4A6471F6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085975"/>
            <a:ext cx="4819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Accounting Preparer: preflight and submit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Accounting Reviewer: approve and activate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Result: Active, checksum-backed, immutable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C3BAA-3CFE-49C5-885B-44CC15E8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5238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be8f473c44494"/>
          <a:stretch xmlns:a="http://schemas.openxmlformats.org/drawingml/2006/main"/>
        </p:blipFill>
        <p:spPr>
          <a:xfrm xmlns:a="http://schemas.openxmlformats.org/drawingml/2006/main">
            <a:off x="6970037" y="3790950"/>
            <a:ext cx="4157426" cy="218122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55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203EDA-39E4-4B93-A171-272258D5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ACCOUNTING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BD280-8A87-4668-83A2-D4F80C6A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Posting rules resolve before Treasury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4D959-D47A-416E-BEF9-43279BDF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43F87-D2E8-43E9-8545-2CA59F3D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F46E9-3ACE-4FEE-A234-D63392D1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E7CFB-3C3F-441E-BAD7-48D9FC89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76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AB4A1-2C88-419B-87F6-C58DAF97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01858-76E6-4A5E-A024-E456E721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Period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D6362-9DD6-4DF6-9B68-0B4CD0AC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057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August 2026 · Open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4A410-F528-4588-80F4-52BAED7F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619250"/>
            <a:ext cx="3476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AA19C-4E8A-4CDE-8449-12E412C2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61925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86916-13D8-4AB6-B336-89BC10FC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809750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46F88-03E7-4C6D-AD02-79606E87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28850"/>
            <a:ext cx="3057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general-fund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C5D3A-5B35-4D4C-978B-31E2D3C7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476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246C3-FBE8-409F-BF65-CD400C63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3178F-54A4-47A2-A7AE-460AFC7D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Center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BAF88F-0E55-4C1A-A955-AC4F51A3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28850"/>
            <a:ext cx="3057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gso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7AE825-C1D8-4BEC-A3F9-D16F28F5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3476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196BD-AC2A-4108-AD93-8E61E31D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B3FB8-9337-4E56-8C63-98993C99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Expense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48F7A7-EEA5-406F-812C-9E574F40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3057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5-02-03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7F3E7-9CC5-4266-BC61-212A44A6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95625"/>
            <a:ext cx="3476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E802BD-98F7-44EA-8D2A-D3AAD750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95625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AD4A5E-3A5C-498C-B736-32179907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86125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Payable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554553-59A6-4880-85B3-CA6B5733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05225"/>
            <a:ext cx="3057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2-01-01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4FE678-BE6E-469E-876C-264ABE40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95625"/>
            <a:ext cx="3476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3B4DDA-F09D-412A-9417-8946DB35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95625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C4CC47-21D6-4DA5-8BF9-10343C1D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86125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Withholding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B2C023-B4C9-47E6-92BE-31BCF4E8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05225"/>
            <a:ext cx="3057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2-02-EWT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C7E201-3102-43B4-BD6A-DBDB43AC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001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4FA"/>
          </a:solidFill>
          <a:ln xmlns:a="http://schemas.openxmlformats.org/drawingml/2006/main" w="9525">
            <a:solidFill>
              <a:srgbClr val="B7D9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39DAF5-6578-4C45-8C69-87C342BC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59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5985"/>
                </a:solidFill>
                <a:latin typeface="Arial"/>
                <a:ea typeface="Arial"/>
                <a:cs typeface="Arial"/>
              </a:rPr>
              <a:t>Mapping contract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F4CD23-8312-4882-B4BD-4E5349C8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00625"/>
            <a:ext cx="833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ordinary-supplier-claim → Accounts payable; ewt → Withholding payable. The voucher snapshot materializes into an independently submitted and posted GRAND JEV.</a:t>
            </a:r>
          </a:p>
        </p:txBody>
      </p:sp>
    </p:spTree>
    <p:extLst>
      <p:ext uri="{BB962C8B-B14F-4D97-AF65-F5344CB8AC3E}">
        <p14:creationId xmlns:p14="http://schemas.microsoft.com/office/powerpoint/2010/main" val="8938475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7283DA-0564-4161-944F-A085A9DA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D2A8A-C361-4ECF-BA7F-5DED98D8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Stable OBR identity and allocation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8B551-E942-4549-BDAF-E9534EFD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FC735-FB93-4B3C-AAA1-7557DC72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C8318-D281-4593-A490-811BF754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EF9E0-2EDA-4201-8313-F17D697A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723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04e4ba1a247fe"/>
          <a:stretch xmlns:a="http://schemas.openxmlformats.org/drawingml/2006/main"/>
        </p:blipFill>
        <p:spPr>
          <a:xfrm xmlns:a="http://schemas.openxmlformats.org/drawingml/2006/main">
            <a:off x="533400" y="2414374"/>
            <a:ext cx="7086600" cy="1648251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8B222-BB63-4AD4-B0F1-E54C129F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3619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0F9BF-E6B4-4E65-925A-4B34643D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7620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CA8F4-00AB-4EC0-8844-196790E9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5737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OBR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71733-91C4-4611-93EE-C1127BBA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76475"/>
            <a:ext cx="320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UAT-OBR-00001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₱1,000.00 certified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B9D54-01FF-4224-97D1-54E4E9B2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33750"/>
            <a:ext cx="3619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F857C-91ED-4A22-8BD5-375E74E6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33750"/>
            <a:ext cx="7620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9F9BB-59F1-4538-959B-AE230833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5242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19BEE-22AE-4EEE-92C8-A8BF4786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943350"/>
            <a:ext cx="320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UAT-APPROPRIATION-001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General Fund · GSO · 5-02-03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743C1-2456-49D9-B2B9-A41A7E22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109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A5D6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BF752-E0AC-44AA-B00E-B9DB2D79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865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653"/>
                </a:solidFill>
                <a:latin typeface="Arial"/>
                <a:ea typeface="Arial"/>
                <a:cs typeface="Arial"/>
              </a:rPr>
              <a:t>One case continues forward—users do not re-enter the same obligation in separate modules.</a:t>
            </a:r>
          </a:p>
        </p:txBody>
      </p:sp>
    </p:spTree>
    <p:extLst>
      <p:ext uri="{BB962C8B-B14F-4D97-AF65-F5344CB8AC3E}">
        <p14:creationId xmlns:p14="http://schemas.microsoft.com/office/powerpoint/2010/main" val="1771553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CD8E1-53AE-4C23-AA7F-DBF4DF51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DISBURSEMENT VOUCHER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54FE2-C68E-41E2-B055-CE60D2F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Amounts and wet signatures stay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78ED5-9359-42B3-BC25-87D8E547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9965D-D0DC-4E5B-BB8C-5422F800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D92A8-80AA-4A00-873C-530099D6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D3BA3-9282-41CB-831F-E92CFED1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5429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fe02c936b4905"/>
          <a:stretch xmlns:a="http://schemas.openxmlformats.org/drawingml/2006/main"/>
        </p:blipFill>
        <p:spPr>
          <a:xfrm xmlns:a="http://schemas.openxmlformats.org/drawingml/2006/main">
            <a:off x="533400" y="1977776"/>
            <a:ext cx="5276850" cy="1187948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F4221-1D91-42EC-A452-581BC7EB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723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d9171dab04e9f"/>
          <a:stretch xmlns:a="http://schemas.openxmlformats.org/drawingml/2006/main"/>
        </p:blipFill>
        <p:spPr>
          <a:xfrm xmlns:a="http://schemas.openxmlformats.org/drawingml/2006/main">
            <a:off x="1317721" y="3886200"/>
            <a:ext cx="5517958" cy="2038350"/>
          </a:xfrm>
          <a:prstGeom xmlns:a="http://schemas.openxmlformats.org/drawingml/2006/main" prst="round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B54D5-780D-40D8-9038-E6987ED5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71625"/>
            <a:ext cx="3619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681E9-662A-4E6D-AA5F-0B621C1E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71625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DBBA6-341E-4B7F-B8FC-771499CB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76212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DV UAT-DV-00001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E3414-8349-41E2-9A2C-38D47453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81225"/>
            <a:ext cx="320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Gross ₱1,000.00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EWT ₱100.00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Net ₱900.00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3A699-5C4F-43B9-BCF5-80BE9D14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0000"/>
            <a:ext cx="3619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BE2CC-2AF7-4FCF-BD2D-4ED9AD4C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00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E47B0-A383-42A9-9B5A-64C5FE4C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005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Synthetic signatories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06566-138E-4578-A18A-F8FD75B9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419600"/>
            <a:ext cx="320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Round 1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Maria L. Santos (UAT)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Elena R. Cruz (UAT)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Round 2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Ramon P. Flores (UAT)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Elena R. Cruz (UAT)</a:t>
            </a:r>
          </a:p>
        </p:txBody>
      </p:sp>
    </p:spTree>
    <p:extLst>
      <p:ext uri="{BB962C8B-B14F-4D97-AF65-F5344CB8AC3E}">
        <p14:creationId xmlns:p14="http://schemas.microsoft.com/office/powerpoint/2010/main" val="21304992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F969D-12FB-4645-B119-EEC7DFA2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ACCOUNTING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76751-5641-4ABC-9827-78281FC7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Independent validation and balanced posting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6199B-8C7B-48AF-9928-AC05CB57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89CDE-D7D3-48A5-A011-64300EE4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D3F3D-B827-452B-8F86-01FCAD7B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99298-F9E6-4B97-9BA2-88624802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39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5b9c065ea4466"/>
          <a:stretch xmlns:a="http://schemas.openxmlformats.org/drawingml/2006/main"/>
        </p:blipFill>
        <p:spPr>
          <a:xfrm xmlns:a="http://schemas.openxmlformats.org/drawingml/2006/main">
            <a:off x="1283070" y="1552575"/>
            <a:ext cx="9587759" cy="2085975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CFED9-A566-4D98-9B9E-39D2FF13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52875"/>
            <a:ext cx="112395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b44c95a6842c4"/>
          <a:stretch xmlns:a="http://schemas.openxmlformats.org/drawingml/2006/main"/>
        </p:blipFill>
        <p:spPr>
          <a:xfrm xmlns:a="http://schemas.openxmlformats.org/drawingml/2006/main">
            <a:off x="2438475" y="4029075"/>
            <a:ext cx="7276950" cy="189547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132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4A5D58-6E84-48E1-9988-2E074FEC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CONTROLLED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4DC87-6B6D-4F2F-BB2B-08D566DE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Change dates and signatories without re-entry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60020-8910-404D-BC50-607C70EC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BDA0A-D8D0-49F9-809B-9FDBBC41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28E0E-45F5-42ED-9879-A4878CD1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7DAFC-0583-4BE8-9B3E-B73369F8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89ED9-A6EC-4B6B-A484-46D6EF25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AEC6F-7346-4A74-A3D4-590CBA54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D96F4-D02B-4ACF-AE4A-3B7D9ADE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914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DV date: Aug 28, 2026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Approved by: Maria L. Santos (UAT)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Net: ₱900.00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94409-5A72-41C4-B262-86935379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17145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5985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1C89E-AF05-48D2-9021-B227B03B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3333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E5D75-792E-4746-B410-D0915601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A7271-8493-464A-83C4-BACD51E5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62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90DA2-B71C-450E-B4D1-CDD6CBAB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81225"/>
            <a:ext cx="2914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DV date: Aug 29, 2026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Approved by: Ramon P. Flores (UAT)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Net: ₱900.00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3AAA8-DE8D-47BE-956C-974879CB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621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5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30D2C-6C7C-4DF9-AC7A-59C82332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288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DV NUMBER PRESERVED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9F6D2-7B23-4C82-94D9-F723E3BF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383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95F8E-699B-4368-8098-43E9B202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050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POSTED JEV PRESERVED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C52C0-A4CE-467E-8076-7302F2E7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1121092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e7c05d3a442f3"/>
          <a:stretch xmlns:a="http://schemas.openxmlformats.org/drawingml/2006/main"/>
        </p:blipFill>
        <p:spPr>
          <a:xfrm xmlns:a="http://schemas.openxmlformats.org/drawingml/2006/main">
            <a:off x="1944991" y="3743325"/>
            <a:ext cx="8235344" cy="20383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960408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EE7D6B-52CA-421E-B4A4-D7DB5D3F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CONTROLLED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5E33E-243F-4CA2-8362-6C24AFDD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Original retained, revised workbook becomes current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AA21B-8F15-450D-94B9-DF8D10A4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A8653-F59D-4302-83E7-22536832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34F2B-BE92-48A9-AE5A-DC30D320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01B84-6812-4F69-BA7D-C36AEC99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6572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465f2038740c7"/>
          <a:stretch xmlns:a="http://schemas.openxmlformats.org/drawingml/2006/main"/>
        </p:blipFill>
        <p:spPr>
          <a:xfrm xmlns:a="http://schemas.openxmlformats.org/drawingml/2006/main">
            <a:off x="533400" y="2285443"/>
            <a:ext cx="6419850" cy="1525114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D1184-1D7E-47FF-BBE1-102FFDB0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66875"/>
            <a:ext cx="4238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9AD35-534F-49A8-B692-98FAFF0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66875"/>
            <a:ext cx="7620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BF1BB-1C3C-414C-B159-AA04DCA4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57375"/>
            <a:ext cx="3819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v1 · Superseded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AD795-EFFB-4682-931A-3344D039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76475"/>
            <a:ext cx="3819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Original workbook remains downloadable evidence with its own SHA-256 checksum.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030E2-5B76-4A70-81F9-AE6C5A97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42386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43361-E952-4D1C-ACB0-3DCA2C0A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7620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8E8D7-87B5-484D-9368-E7C7ADA2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3819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v2 · Controlled UAT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9B21C-92B1-4D7F-AC61-8718E4D1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52850"/>
            <a:ext cx="3819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Revised date and signatories; same DV number, same amounts, same posted JEV.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C88CA-6995-4E0F-B24E-B0647D09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2109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4FA"/>
          </a:solidFill>
          <a:ln xmlns:a="http://schemas.openxmlformats.org/drawingml/2006/main" w="9525">
            <a:solidFill>
              <a:srgbClr val="B7D9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4EC99-DE37-49A3-8726-2AE07F69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59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5985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CBC18-E4DD-4FC8-A7F8-FB6957F3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05375"/>
            <a:ext cx="852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F33"/>
                </a:solidFill>
                <a:latin typeface="Arial"/>
                <a:ea typeface="Arial"/>
                <a:cs typeface="Arial"/>
              </a:rPr>
              <a:t>Users can correct common non-financial fields before check issuance while preserving a clear before/after trail instead of cancelling and re-entering the whole transaction.</a:t>
            </a:r>
          </a:p>
        </p:txBody>
      </p:sp>
    </p:spTree>
    <p:extLst>
      <p:ext uri="{BB962C8B-B14F-4D97-AF65-F5344CB8AC3E}">
        <p14:creationId xmlns:p14="http://schemas.microsoft.com/office/powerpoint/2010/main" val="9648125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F24F6-6575-4AB9-B8E7-D1CB7A5A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TREASURY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E5E72-58AC-414A-A638-16537735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Cancelled numbers remain consumed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A14C3-12B2-46EA-B71D-C3FD2690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4813C-CC83-4539-8A4F-927F7ABC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43DAB-8856-4129-8F63-F44D78DE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9EC12-DE4B-4193-A4AD-478B7A38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69056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13010775b4950"/>
          <a:stretch xmlns:a="http://schemas.openxmlformats.org/drawingml/2006/main"/>
        </p:blipFill>
        <p:spPr>
          <a:xfrm xmlns:a="http://schemas.openxmlformats.org/drawingml/2006/main">
            <a:off x="533400" y="2002092"/>
            <a:ext cx="6753225" cy="1520316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6E977-EB9D-4942-871A-D25AC008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26670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UAT-000201 · CANCELLED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A0AF6-231E-45FF-8734-A61A3B1F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26670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8653"/>
          </a:solidFill>
          <a:ln xmlns:a="http://schemas.openxmlformats.org/drawingml/2006/main" w="9525">
            <a:solidFill>
              <a:srgbClr val="178653"/>
            </a:solidFill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UAT-000202 · RELEASED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C9F65-312D-43D1-89E5-25980D03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29125"/>
            <a:ext cx="238125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5985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UAT-ADV-0001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98C36-BFD1-4A07-8DC8-2D4FFA77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29125"/>
            <a:ext cx="28575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9FAD"/>
          </a:solidFill>
          <a:ln xmlns:a="http://schemas.openxmlformats.org/drawingml/2006/main" w="9525">
            <a:solidFill>
              <a:srgbClr val="0E9FAD"/>
            </a:solidFill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UAT-RECEIPT-0001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2C4C8-BF73-450B-A85F-4AD61DAD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24000"/>
            <a:ext cx="3905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28581-92B2-441B-B9D1-82EDF2F6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24000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F663C-E46B-43FC-A214-3B911A5B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1450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Control 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D0FB8-65EB-4A4F-BE15-4F979377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133600"/>
            <a:ext cx="34861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Post-check date/signatory amendment: BLOCKED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Cancelled check reuse: BLOCKED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Replacement lineage: RETAINED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Release amount: ₱900.00</a:t>
            </a:r>
          </a:p>
        </p:txBody>
      </p:sp>
    </p:spTree>
    <p:extLst>
      <p:ext uri="{BB962C8B-B14F-4D97-AF65-F5344CB8AC3E}">
        <p14:creationId xmlns:p14="http://schemas.microsoft.com/office/powerpoint/2010/main" val="3789404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F84EF-F354-4475-8506-EAC1A716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END-TO-END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37C31-136B-4C5D-A210-4939D1B5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shared case reaches Completed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10EE1-7250-47ED-96BA-B83FBE50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C2447-A5DE-46C8-9AAE-EE68E15C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11B65-BB39-42D9-853C-2B9C9FD8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8773B-C7B7-49FE-80BA-27393F86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395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f0a4eb33c4a9c"/>
          <a:stretch xmlns:a="http://schemas.openxmlformats.org/drawingml/2006/main"/>
        </p:blipFill>
        <p:spPr>
          <a:xfrm xmlns:a="http://schemas.openxmlformats.org/drawingml/2006/main">
            <a:off x="1884044" y="1552575"/>
            <a:ext cx="8385813" cy="437197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548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A13ED1-AA71-45A9-BD73-78258623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CONFIGURABLE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44376-E2CB-4475-A3FD-524DFAEE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Exception is explicit, scoped, and temporary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57088-2C44-4DCA-BD8F-949D9D74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657D9-57D2-42FA-9E39-44C0E51E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849CB-85B8-4BD7-9BE6-2E2B7A88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FAF56-8912-4F08-9DBB-44160455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19087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2EB86-5533-45A2-909B-CBEA463B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C3069-E132-4EAB-8EBB-79A91CA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1 · Strict default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5EE63-06DB-4C87-9E3C-949EEE09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7717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Accounting Preparer attempts to validate their own DV.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Result: BLOCKED by maker-checker control.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4C53B-CDE3-4D32-8DA8-F5B1FB6B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19375"/>
            <a:ext cx="11430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28BC2-6927-438E-91F9-F2711606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14500"/>
            <a:ext cx="319087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B9166-4D4A-401F-9C89-12020607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14500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DADBB-5115-4BD2-87BA-1F1898A4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90500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 · Authorized exception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420CF-832B-4604-A5BD-9C939D1F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24100"/>
            <a:ext cx="27717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Group: UAT Combined Accounting Exception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Control: dv-preparer-self-validation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Department: Accounting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Audit snapshot retained.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1E10F-AD06-4E0F-A6C5-CDF36126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11430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5985"/>
          </a:solidFill>
          <a:ln xmlns:a="http://schemas.openxmlformats.org/drawingml/2006/main" w="9525">
            <a:solidFill>
              <a:srgbClr val="075985"/>
            </a:solidFill>
            <a:prstDash val="solid"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7CA57-CA35-451B-BA43-18FF1D94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0"/>
            <a:ext cx="1762125" cy="24765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9A9A2-AD26-4DF9-AE23-6D55794C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0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EA129-CE0A-4E7A-8C3F-34F85CAD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0500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3 · Restore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AD8C2-E098-4703-890C-5F7E574E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24100"/>
            <a:ext cx="13430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Policy deactivated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Membership removed</a:t>
            </a:r>
          </a:p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Control returns to strict default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A0FC5-8645-4C5B-9239-022240EA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112109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A5D6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9C226-2E65-446E-A15F-261A536C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865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653"/>
                </a:solidFill>
                <a:latin typeface="Arial"/>
                <a:ea typeface="Arial"/>
                <a:cs typeface="Arial"/>
              </a:rPr>
              <a:t>User-friendly without becoming invisible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312867-3298-4347-87EE-E73B353C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Exceptions are named, department-scoped, time-bound, and copied into immutable workflow evidence—not hidden in code or granted as blanket superuser power.</a:t>
            </a:r>
          </a:p>
        </p:txBody>
      </p:sp>
    </p:spTree>
    <p:extLst>
      <p:ext uri="{BB962C8B-B14F-4D97-AF65-F5344CB8AC3E}">
        <p14:creationId xmlns:p14="http://schemas.microsoft.com/office/powerpoint/2010/main" val="8284990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50EE37-EFDE-4368-95AB-140F2ADA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A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9FAD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506A2-E8C3-4556-816C-CABCBEE7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GRAND improves over the legacy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42E40-75E8-4C0C-83AD-2E6A8AA0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79AA1-5CB5-4DD7-A07B-E1FD31F8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80C5B-53A7-47CF-BC19-5AE161C2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GRAND Finance · Synthetic UAT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3A721-9223-490F-A827-3E83C03D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122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8E8CB-686E-43DA-9464-9399C278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9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5985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4EB3D-E38C-435D-83A2-5824504F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573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Standalone database and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BA09B-213E-48E1-A063-8B216FA2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No dependency on the legacy 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3A910-1CCB-4268-8613-FAF77E17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57425"/>
            <a:ext cx="1122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2C1CC-2FE6-4C8D-BC79-F6CD4762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9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5985"/>
                </a:solidFill>
                <a:latin typeface="Arial"/>
                <a:ea typeface="Arial"/>
                <a:cs typeface="Arial"/>
              </a:rPr>
              <a:t>Navigation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67691-A673-4206-97E3-C7A3DF39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907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Role-aware queues and one shared 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AD306-3BA6-4E23-A01F-CCD9BB5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907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Less duplicate encoding and status hunting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F497B-CB1F-4024-B04E-A93F314B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1122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D0B9E-E22B-4ED9-A355-E9F83B58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9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5985"/>
                </a:solidFill>
                <a:latin typeface="Arial"/>
                <a:ea typeface="Arial"/>
                <a:cs typeface="Arial"/>
              </a:rPr>
              <a:t>Templates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18E20-C4BE-4D3E-A679-5F34C61F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Named Excel mappings + governed releases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C3D04-E5C5-4A6D-A5DE-4A13409C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Non-technical layout changes with preflight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97F0E-6838-4E31-8B76-9D43F4AA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4275"/>
            <a:ext cx="1122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E980AE-032E-4429-82EC-5E237A1B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9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5985"/>
                </a:solidFill>
                <a:latin typeface="Arial"/>
                <a:ea typeface="Arial"/>
                <a:cs typeface="Arial"/>
              </a:rPr>
              <a:t>Corrections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7C1EE-2F8E-4591-B2BD-F13132FC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5762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Pre-check non-financial amendment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F63A4-FAE0-4BD1-9F9B-8ECCEA63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No cancel/re-entry for dates or signatories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978BD6-9058-4B1B-B809-1668D01A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122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40927-5646-4F3F-BBC8-CCD137B4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9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5985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BD91D-FD41-4DE6-9122-CCFF032A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910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Maker-checker + scoped exemption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44C0E-1422-41B7-97AF-1D5952D6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Strict by default, configurable with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53C118-19A7-4676-8AFD-4E5594AA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220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E6BE1B-2E2F-47A0-AAC9-1D8BA65A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9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5985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A7169D-833D-4FCF-9869-4190398F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244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Checksums, versions, events, JEV trace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C3762B-1E06-4E02-86B5-EA970A4C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244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Clear before/after and source lineage</a:t>
            </a:r>
          </a:p>
        </p:txBody>
      </p:sp>
    </p:spTree>
    <p:extLst>
      <p:ext uri="{BB962C8B-B14F-4D97-AF65-F5344CB8AC3E}">
        <p14:creationId xmlns:p14="http://schemas.microsoft.com/office/powerpoint/2010/main" val="9753871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39FC2-853A-4854-82C2-9ED1623B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D9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D9E8"/>
                </a:solidFill>
                <a:latin typeface="Arial"/>
                <a:ea typeface="Arial"/>
                <a:cs typeface="Arial"/>
              </a:rPr>
              <a:t>UAT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8E410-BB83-4E96-9D27-1BC3FA25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complete cycle works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inside GRAND.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D9191-32B9-457A-8B63-90AAD2D4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85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F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DE7F0"/>
                </a:solidFill>
                <a:latin typeface="Arial"/>
                <a:ea typeface="Arial"/>
                <a:cs typeface="Arial"/>
              </a:rPr>
              <a:t>Passed: governed Excel template, OBR, DV, wet signatures, balanced JEV, non-financial amendment, check replacement, bank advice, release, and scoped exemption.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71832-1A9F-4A62-AADD-FC87A132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00125"/>
            <a:ext cx="3857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52CE8-FF8D-4790-96EC-0269083D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001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53AB4-F0B1-4D21-BB06-52F0101E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19062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Ready for guided manual UAT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B2E2E-D999-401B-94E1-95ECD46A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09725"/>
            <a:ext cx="34385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The branch retains complete synthetic records and leaves room for repair work before any official-use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5A9F4-1706-455B-A861-A97CF457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3857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2E3EE-2F0D-4366-B8FE-3974FD94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F18EE-C240-48D3-9F56-7567CD18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Still intentionally limited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068F2-D240-46A0-94CC-A8BC6127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76600"/>
            <a:ext cx="34385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Synthetic data only; no real payment, official check printing, bank transmission, production cutover, or Records filing.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7EA10-F000-4798-89BE-B399F158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05375"/>
            <a:ext cx="2714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8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0944B-6B67-4637-A1D9-FFB091F2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 / 11 PHASES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746C9-5D92-47BB-81C1-A41C272A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05375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59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A4F25F-10D4-478E-9B06-4C9014F2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72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42 FINANCE TESTS PASSED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41D5D-8F5A-458A-9E31-E66D85D0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905375"/>
            <a:ext cx="2238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9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3C49C-1977-4B8D-A4A8-7FDBC6ED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97205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EXCEL 16 VERIFIED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EBE31-371F-455D-9FF7-C9FA4416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Next: stakeholder review → repair backlog → guided full-cycle manual UAT.</a:t>
            </a:r>
          </a:p>
        </p:txBody>
      </p:sp>
    </p:spTree>
    <p:extLst>
      <p:ext uri="{BB962C8B-B14F-4D97-AF65-F5344CB8AC3E}">
        <p14:creationId xmlns:p14="http://schemas.microsoft.com/office/powerpoint/2010/main" val="896435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2026-08-28T03:53:51.2490000Z</dcterms:created>
  <dcterms:modified xsi:type="dcterms:W3CDTF">2026-08-28T03:53:51.2490000Z</dcterms:modified>
</coreProperties>
</file>